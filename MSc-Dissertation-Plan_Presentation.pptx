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2" r:id="rId3"/>
    <p:sldId id="263" r:id="rId4"/>
    <p:sldId id="257" r:id="rId5"/>
    <p:sldId id="258" r:id="rId6"/>
    <p:sldId id="259" r:id="rId7"/>
    <p:sldId id="260" r:id="rId8"/>
    <p:sldId id="261"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07" d="100"/>
          <a:sy n="107" d="100"/>
        </p:scale>
        <p:origin x="612"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97AEB4F-F6FA-46C7-9187-9AE90683D2E0}"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434F36-F3F7-44D4-9D63-0CB8B174DC9B}"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069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97AEB4F-F6FA-46C7-9187-9AE90683D2E0}"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434F36-F3F7-44D4-9D63-0CB8B174DC9B}" type="slidenum">
              <a:rPr lang="en-GB" smtClean="0"/>
              <a:t>‹#›</a:t>
            </a:fld>
            <a:endParaRPr lang="en-GB"/>
          </a:p>
        </p:txBody>
      </p:sp>
    </p:spTree>
    <p:extLst>
      <p:ext uri="{BB962C8B-B14F-4D97-AF65-F5344CB8AC3E}">
        <p14:creationId xmlns:p14="http://schemas.microsoft.com/office/powerpoint/2010/main" val="2775906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97AEB4F-F6FA-46C7-9187-9AE90683D2E0}"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434F36-F3F7-44D4-9D63-0CB8B174DC9B}"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91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97AEB4F-F6FA-46C7-9187-9AE90683D2E0}" type="datetimeFigureOut">
              <a:rPr lang="en-GB" smtClean="0"/>
              <a:t>06/02/2026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7434F36-F3F7-44D4-9D63-0CB8B174DC9B}" type="slidenum">
              <a:rPr lang="en-GB" smtClean="0"/>
              <a:t>‹#›</a:t>
            </a:fld>
            <a:endParaRPr lang="en-GB"/>
          </a:p>
        </p:txBody>
      </p:sp>
    </p:spTree>
    <p:extLst>
      <p:ext uri="{BB962C8B-B14F-4D97-AF65-F5344CB8AC3E}">
        <p14:creationId xmlns:p14="http://schemas.microsoft.com/office/powerpoint/2010/main" val="3489998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97AEB4F-F6FA-46C7-9187-9AE90683D2E0}" type="datetimeFigureOut">
              <a:rPr lang="en-GB" smtClean="0"/>
              <a:t>06/02/2026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7434F36-F3F7-44D4-9D63-0CB8B174DC9B}" type="slidenum">
              <a:rPr lang="en-GB" smtClean="0"/>
              <a:t>‹#›</a:t>
            </a:fld>
            <a:endParaRPr lang="en-GB"/>
          </a:p>
        </p:txBody>
      </p:sp>
    </p:spTree>
    <p:extLst>
      <p:ext uri="{BB962C8B-B14F-4D97-AF65-F5344CB8AC3E}">
        <p14:creationId xmlns:p14="http://schemas.microsoft.com/office/powerpoint/2010/main" val="1231333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97AEB4F-F6FA-46C7-9187-9AE90683D2E0}" type="datetimeFigureOut">
              <a:rPr lang="en-GB" smtClean="0"/>
              <a:t>06/02/2026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7434F36-F3F7-44D4-9D63-0CB8B174DC9B}" type="slidenum">
              <a:rPr lang="en-GB" smtClean="0"/>
              <a:t>‹#›</a:t>
            </a:fld>
            <a:endParaRPr lang="en-GB"/>
          </a:p>
        </p:txBody>
      </p:sp>
    </p:spTree>
    <p:extLst>
      <p:ext uri="{BB962C8B-B14F-4D97-AF65-F5344CB8AC3E}">
        <p14:creationId xmlns:p14="http://schemas.microsoft.com/office/powerpoint/2010/main" val="485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7AEB4F-F6FA-46C7-9187-9AE90683D2E0}" type="datetimeFigureOut">
              <a:rPr lang="en-GB" smtClean="0"/>
              <a:t>06/02/2026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7434F36-F3F7-44D4-9D63-0CB8B174DC9B}" type="slidenum">
              <a:rPr lang="en-GB" smtClean="0"/>
              <a:t>‹#›</a:t>
            </a:fld>
            <a:endParaRPr lang="en-GB"/>
          </a:p>
        </p:txBody>
      </p:sp>
    </p:spTree>
    <p:extLst>
      <p:ext uri="{BB962C8B-B14F-4D97-AF65-F5344CB8AC3E}">
        <p14:creationId xmlns:p14="http://schemas.microsoft.com/office/powerpoint/2010/main" val="3297540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97AEB4F-F6FA-46C7-9187-9AE90683D2E0}" type="datetimeFigureOut">
              <a:rPr lang="en-GB" smtClean="0"/>
              <a:t>06/02/2026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7434F36-F3F7-44D4-9D63-0CB8B174DC9B}" type="slidenum">
              <a:rPr lang="en-GB" smtClean="0"/>
              <a:t>‹#›</a:t>
            </a:fld>
            <a:endParaRPr lang="en-GB"/>
          </a:p>
        </p:txBody>
      </p:sp>
    </p:spTree>
    <p:extLst>
      <p:ext uri="{BB962C8B-B14F-4D97-AF65-F5344CB8AC3E}">
        <p14:creationId xmlns:p14="http://schemas.microsoft.com/office/powerpoint/2010/main" val="975031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97AEB4F-F6FA-46C7-9187-9AE90683D2E0}" type="datetimeFigureOut">
              <a:rPr lang="en-GB" smtClean="0"/>
              <a:t>06/02/2026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7434F36-F3F7-44D4-9D63-0CB8B174DC9B}"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22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97AEB4F-F6FA-46C7-9187-9AE90683D2E0}"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434F36-F3F7-44D4-9D63-0CB8B174DC9B}" type="slidenum">
              <a:rPr lang="en-GB" smtClean="0"/>
              <a:t>‹#›</a:t>
            </a:fld>
            <a:endParaRPr lang="en-GB"/>
          </a:p>
        </p:txBody>
      </p:sp>
    </p:spTree>
    <p:extLst>
      <p:ext uri="{BB962C8B-B14F-4D97-AF65-F5344CB8AC3E}">
        <p14:creationId xmlns:p14="http://schemas.microsoft.com/office/powerpoint/2010/main" val="863177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97AEB4F-F6FA-46C7-9187-9AE90683D2E0}"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434F36-F3F7-44D4-9D63-0CB8B174DC9B}" type="slidenum">
              <a:rPr lang="en-GB" smtClean="0"/>
              <a:t>‹#›</a:t>
            </a:fld>
            <a:endParaRPr lang="en-GB"/>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9702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97AEB4F-F6FA-46C7-9187-9AE90683D2E0}" type="datetimeFigureOut">
              <a:rPr lang="en-GB" smtClean="0"/>
              <a:t>06/02/2026</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7434F36-F3F7-44D4-9D63-0CB8B174DC9B}" type="slidenum">
              <a:rPr lang="en-GB" smtClean="0"/>
              <a:t>‹#›</a:t>
            </a:fld>
            <a:endParaRPr lang="en-GB"/>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01386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4C0648FB-4388-443C-8D4E-4A9FF0336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A8D762E-DA8D-419A-BA44-68B93D3D9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34A0956-CDB6-7E8A-62C1-50C5BFBC25D7}"/>
              </a:ext>
            </a:extLst>
          </p:cNvPr>
          <p:cNvSpPr>
            <a:spLocks noGrp="1"/>
          </p:cNvSpPr>
          <p:nvPr>
            <p:ph type="ctrTitle"/>
          </p:nvPr>
        </p:nvSpPr>
        <p:spPr>
          <a:xfrm>
            <a:off x="1286933" y="977048"/>
            <a:ext cx="9618133" cy="3282532"/>
          </a:xfrm>
        </p:spPr>
        <p:txBody>
          <a:bodyPr anchor="b">
            <a:normAutofit/>
          </a:bodyPr>
          <a:lstStyle/>
          <a:p>
            <a:pPr algn="l"/>
            <a:r>
              <a:rPr lang="en-GB" sz="6000" dirty="0">
                <a:solidFill>
                  <a:srgbClr val="FFFFFF"/>
                </a:solidFill>
              </a:rPr>
              <a:t>Deployment of a 5G network using Open-source tools</a:t>
            </a:r>
            <a:br>
              <a:rPr lang="en-GB" sz="6000" dirty="0">
                <a:solidFill>
                  <a:srgbClr val="FFFFFF"/>
                </a:solidFill>
              </a:rPr>
            </a:br>
            <a:r>
              <a:rPr lang="en-GB" sz="2400" dirty="0">
                <a:solidFill>
                  <a:schemeClr val="bg1">
                    <a:lumMod val="75000"/>
                  </a:schemeClr>
                </a:solidFill>
              </a:rPr>
              <a:t>Dissertation plan presentation</a:t>
            </a:r>
            <a:endParaRPr lang="en-GB" sz="6000" dirty="0">
              <a:solidFill>
                <a:schemeClr val="bg1">
                  <a:lumMod val="75000"/>
                </a:schemeClr>
              </a:solidFill>
            </a:endParaRPr>
          </a:p>
        </p:txBody>
      </p:sp>
      <p:cxnSp>
        <p:nvCxnSpPr>
          <p:cNvPr id="41" name="Straight Connector 40">
            <a:extLst>
              <a:ext uri="{FF2B5EF4-FFF2-40B4-BE49-F238E27FC236}">
                <a16:creationId xmlns:a16="http://schemas.microsoft.com/office/drawing/2014/main" id="{47F95953-8E19-4C01-997F-0E959B52B7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552199" y="5234457"/>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70A1F711-8A7D-59C3-0159-AFFE9192D00B}"/>
              </a:ext>
            </a:extLst>
          </p:cNvPr>
          <p:cNvSpPr>
            <a:spLocks noGrp="1"/>
          </p:cNvSpPr>
          <p:nvPr>
            <p:ph type="subTitle" idx="1"/>
          </p:nvPr>
        </p:nvSpPr>
        <p:spPr>
          <a:xfrm>
            <a:off x="833965" y="4915076"/>
            <a:ext cx="10524067" cy="1463040"/>
          </a:xfrm>
          <a:solidFill>
            <a:schemeClr val="bg1"/>
          </a:solidFill>
        </p:spPr>
        <p:txBody>
          <a:bodyPr>
            <a:normAutofit/>
          </a:bodyPr>
          <a:lstStyle/>
          <a:p>
            <a:r>
              <a:rPr lang="en-GB" dirty="0"/>
              <a:t>Marcos Vinicius Bonfim Romão					</a:t>
            </a:r>
            <a:r>
              <a:rPr lang="en-GB"/>
              <a:t>	       Supervisor: </a:t>
            </a:r>
            <a:r>
              <a:rPr lang="en-GB" dirty="0"/>
              <a:t>Rodolfo Oliveira</a:t>
            </a:r>
          </a:p>
          <a:p>
            <a:r>
              <a:rPr lang="en-GB" dirty="0"/>
              <a:t>BSc in Electrical and Computer Engineering 					      6</a:t>
            </a:r>
            <a:r>
              <a:rPr lang="en-GB" baseline="30000" dirty="0"/>
              <a:t>th</a:t>
            </a:r>
            <a:r>
              <a:rPr lang="en-GB" dirty="0"/>
              <a:t> February 2026</a:t>
            </a:r>
          </a:p>
          <a:p>
            <a:r>
              <a:rPr lang="en-GB" dirty="0"/>
              <a:t>Department of Electrical and Computer Engineering		   NOVA School of Science and Technology</a:t>
            </a:r>
          </a:p>
        </p:txBody>
      </p:sp>
      <p:pic>
        <p:nvPicPr>
          <p:cNvPr id="5" name="Picture 4" descr="A black background with a black square&#10;&#10;AI-generated content may be incorrect.">
            <a:extLst>
              <a:ext uri="{FF2B5EF4-FFF2-40B4-BE49-F238E27FC236}">
                <a16:creationId xmlns:a16="http://schemas.microsoft.com/office/drawing/2014/main" id="{6ABE6925-A191-71BE-0DBE-25B87FB705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270241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1E786-3D7C-E982-B851-6778455E8622}"/>
              </a:ext>
            </a:extLst>
          </p:cNvPr>
          <p:cNvSpPr>
            <a:spLocks noGrp="1"/>
          </p:cNvSpPr>
          <p:nvPr>
            <p:ph type="title"/>
          </p:nvPr>
        </p:nvSpPr>
        <p:spPr/>
        <p:txBody>
          <a:bodyPr/>
          <a:lstStyle/>
          <a:p>
            <a:r>
              <a:rPr lang="en-GB" dirty="0">
                <a:latin typeface="Amasis MT Pro" panose="02040504050005020304" pitchFamily="18" charset="0"/>
              </a:rPr>
              <a:t>Motivation</a:t>
            </a:r>
          </a:p>
        </p:txBody>
      </p:sp>
      <p:sp>
        <p:nvSpPr>
          <p:cNvPr id="3" name="Content Placeholder 2">
            <a:extLst>
              <a:ext uri="{FF2B5EF4-FFF2-40B4-BE49-F238E27FC236}">
                <a16:creationId xmlns:a16="http://schemas.microsoft.com/office/drawing/2014/main" id="{F2A9F82B-F9E5-5082-A35B-7B862EB720E6}"/>
              </a:ext>
            </a:extLst>
          </p:cNvPr>
          <p:cNvSpPr>
            <a:spLocks noGrp="1"/>
          </p:cNvSpPr>
          <p:nvPr>
            <p:ph idx="1"/>
          </p:nvPr>
        </p:nvSpPr>
        <p:spPr/>
        <p:txBody>
          <a:bodyPr>
            <a:normAutofit/>
          </a:bodyPr>
          <a:lstStyle/>
          <a:p>
            <a:r>
              <a:rPr lang="en-GB" sz="3200" dirty="0"/>
              <a:t>5G has evolved into the foundation for critical applications, driving a global shift toward flexible, open-source architectures to bypass proprietary limitations. However, deploying these complex, softwarized networks remains a significant challenge, necessitating extensive knowledge and accessible implementation strategies.</a:t>
            </a:r>
          </a:p>
        </p:txBody>
      </p:sp>
      <p:pic>
        <p:nvPicPr>
          <p:cNvPr id="5" name="Picture 4" descr="A black background with a black square&#10;&#10;AI-generated content may be incorrect.">
            <a:extLst>
              <a:ext uri="{FF2B5EF4-FFF2-40B4-BE49-F238E27FC236}">
                <a16:creationId xmlns:a16="http://schemas.microsoft.com/office/drawing/2014/main" id="{3F229903-C886-D5B7-2815-C5BEAD50C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663362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BCA89-8A9E-07BB-272B-02909011CAD7}"/>
              </a:ext>
            </a:extLst>
          </p:cNvPr>
          <p:cNvSpPr>
            <a:spLocks noGrp="1"/>
          </p:cNvSpPr>
          <p:nvPr>
            <p:ph type="title"/>
          </p:nvPr>
        </p:nvSpPr>
        <p:spPr/>
        <p:txBody>
          <a:bodyPr/>
          <a:lstStyle/>
          <a:p>
            <a:r>
              <a:rPr lang="en-GB" dirty="0">
                <a:latin typeface="Amasis MT Pro" panose="02040504050005020304" pitchFamily="18" charset="0"/>
              </a:rPr>
              <a:t>Objectives</a:t>
            </a:r>
          </a:p>
        </p:txBody>
      </p:sp>
      <p:sp>
        <p:nvSpPr>
          <p:cNvPr id="3" name="Content Placeholder 2">
            <a:extLst>
              <a:ext uri="{FF2B5EF4-FFF2-40B4-BE49-F238E27FC236}">
                <a16:creationId xmlns:a16="http://schemas.microsoft.com/office/drawing/2014/main" id="{71A55F52-2303-A9F2-1604-C64AD4CA72EF}"/>
              </a:ext>
            </a:extLst>
          </p:cNvPr>
          <p:cNvSpPr>
            <a:spLocks noGrp="1"/>
          </p:cNvSpPr>
          <p:nvPr>
            <p:ph idx="1"/>
          </p:nvPr>
        </p:nvSpPr>
        <p:spPr/>
        <p:txBody>
          <a:bodyPr>
            <a:normAutofit/>
          </a:bodyPr>
          <a:lstStyle/>
          <a:p>
            <a:r>
              <a:rPr lang="en-GB" sz="3200" dirty="0"/>
              <a:t>The main objective of this thesis project is to develop a fully fledged 5G SA network using open-source tools, built upon software-defined radios and commodity hardware. </a:t>
            </a:r>
          </a:p>
          <a:p>
            <a:r>
              <a:rPr lang="en-GB" sz="3200" dirty="0"/>
              <a:t>Afterwards, a thorough performance evaluation shall be conducted to validate the deployment and analyse key performance points, as well as identifying possible bottlenecks.</a:t>
            </a:r>
          </a:p>
          <a:p>
            <a:pPr marL="0" indent="0">
              <a:buNone/>
            </a:pPr>
            <a:endParaRPr lang="en-GB" sz="3200" dirty="0"/>
          </a:p>
        </p:txBody>
      </p:sp>
      <p:pic>
        <p:nvPicPr>
          <p:cNvPr id="4" name="Picture 3" descr="A black background with a black square&#10;&#10;AI-generated content may be incorrect.">
            <a:extLst>
              <a:ext uri="{FF2B5EF4-FFF2-40B4-BE49-F238E27FC236}">
                <a16:creationId xmlns:a16="http://schemas.microsoft.com/office/drawing/2014/main" id="{20A0FDD2-ECC1-B67C-BACB-B9E5FF1E61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404255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EEBF5-020B-1A17-DC05-F8C3BB6C7BB6}"/>
              </a:ext>
            </a:extLst>
          </p:cNvPr>
          <p:cNvSpPr>
            <a:spLocks noGrp="1"/>
          </p:cNvSpPr>
          <p:nvPr>
            <p:ph type="title"/>
          </p:nvPr>
        </p:nvSpPr>
        <p:spPr/>
        <p:txBody>
          <a:bodyPr/>
          <a:lstStyle/>
          <a:p>
            <a:r>
              <a:rPr lang="en-GB" dirty="0">
                <a:latin typeface="Amasis MT Pro" panose="020F0502020204030204" pitchFamily="18" charset="0"/>
              </a:rPr>
              <a:t>Workplan schedule</a:t>
            </a:r>
          </a:p>
        </p:txBody>
      </p:sp>
      <p:sp>
        <p:nvSpPr>
          <p:cNvPr id="3" name="Content Placeholder 2">
            <a:extLst>
              <a:ext uri="{FF2B5EF4-FFF2-40B4-BE49-F238E27FC236}">
                <a16:creationId xmlns:a16="http://schemas.microsoft.com/office/drawing/2014/main" id="{5BE7B36F-9E26-9FFF-0258-3A9891E0AE35}"/>
              </a:ext>
            </a:extLst>
          </p:cNvPr>
          <p:cNvSpPr>
            <a:spLocks noGrp="1"/>
          </p:cNvSpPr>
          <p:nvPr>
            <p:ph idx="1"/>
          </p:nvPr>
        </p:nvSpPr>
        <p:spPr>
          <a:xfrm>
            <a:off x="838200" y="1825625"/>
            <a:ext cx="608463" cy="4351338"/>
          </a:xfrm>
        </p:spPr>
        <p:txBody>
          <a:bodyPr>
            <a:normAutofit lnSpcReduction="10000"/>
          </a:bodyPr>
          <a:lstStyle/>
          <a:p>
            <a:pPr marL="0" indent="0">
              <a:buNone/>
            </a:pPr>
            <a:r>
              <a:rPr lang="en-GB" sz="5400" dirty="0"/>
              <a:t>1</a:t>
            </a:r>
          </a:p>
          <a:p>
            <a:pPr marL="0" indent="0">
              <a:buNone/>
            </a:pPr>
            <a:r>
              <a:rPr lang="en-GB" sz="5400" dirty="0">
                <a:solidFill>
                  <a:schemeClr val="bg1">
                    <a:lumMod val="75000"/>
                  </a:schemeClr>
                </a:solidFill>
              </a:rPr>
              <a:t>2</a:t>
            </a:r>
          </a:p>
          <a:p>
            <a:pPr marL="0" indent="0">
              <a:buNone/>
            </a:pPr>
            <a:r>
              <a:rPr lang="en-GB" sz="5400" dirty="0">
                <a:solidFill>
                  <a:schemeClr val="bg1">
                    <a:lumMod val="75000"/>
                  </a:schemeClr>
                </a:solidFill>
              </a:rPr>
              <a:t>3</a:t>
            </a:r>
          </a:p>
          <a:p>
            <a:pPr marL="0" indent="0">
              <a:buNone/>
            </a:pPr>
            <a:r>
              <a:rPr lang="en-GB" sz="5400" dirty="0">
                <a:solidFill>
                  <a:schemeClr val="bg1">
                    <a:lumMod val="75000"/>
                  </a:schemeClr>
                </a:solidFill>
              </a:rPr>
              <a:t>4</a:t>
            </a:r>
          </a:p>
          <a:p>
            <a:pPr marL="0" indent="0">
              <a:buNone/>
            </a:pPr>
            <a:r>
              <a:rPr lang="en-GB" sz="5400" dirty="0">
                <a:solidFill>
                  <a:schemeClr val="bg1">
                    <a:lumMod val="75000"/>
                  </a:schemeClr>
                </a:solidFill>
              </a:rPr>
              <a:t>5</a:t>
            </a:r>
          </a:p>
        </p:txBody>
      </p:sp>
      <p:sp>
        <p:nvSpPr>
          <p:cNvPr id="4" name="TextBox 3">
            <a:extLst>
              <a:ext uri="{FF2B5EF4-FFF2-40B4-BE49-F238E27FC236}">
                <a16:creationId xmlns:a16="http://schemas.microsoft.com/office/drawing/2014/main" id="{6CD31FB2-7BE3-3573-76BC-AF3CFF110B1B}"/>
              </a:ext>
            </a:extLst>
          </p:cNvPr>
          <p:cNvSpPr txBox="1"/>
          <p:nvPr/>
        </p:nvSpPr>
        <p:spPr>
          <a:xfrm>
            <a:off x="1676400" y="1825625"/>
            <a:ext cx="9937750" cy="2554545"/>
          </a:xfrm>
          <a:prstGeom prst="rect">
            <a:avLst/>
          </a:prstGeom>
          <a:noFill/>
        </p:spPr>
        <p:txBody>
          <a:bodyPr wrap="square" rtlCol="0">
            <a:spAutoFit/>
          </a:bodyPr>
          <a:lstStyle/>
          <a:p>
            <a:r>
              <a:rPr lang="en-GB" sz="3200" b="1" dirty="0"/>
              <a:t>Literature Review</a:t>
            </a:r>
          </a:p>
          <a:p>
            <a:r>
              <a:rPr lang="en-GB" sz="3200" dirty="0"/>
              <a:t>Review of the core concepts behind 5G networks, mainly the 5G Core and Radio Access Network, based on reference books about the topic, as well as a review of existing research papers about 5G network deployments.  </a:t>
            </a:r>
          </a:p>
        </p:txBody>
      </p:sp>
      <p:sp>
        <p:nvSpPr>
          <p:cNvPr id="5" name="TextBox 4">
            <a:extLst>
              <a:ext uri="{FF2B5EF4-FFF2-40B4-BE49-F238E27FC236}">
                <a16:creationId xmlns:a16="http://schemas.microsoft.com/office/drawing/2014/main" id="{4471BAA3-23F0-4123-0D5C-9E6362EA2DB6}"/>
              </a:ext>
            </a:extLst>
          </p:cNvPr>
          <p:cNvSpPr txBox="1"/>
          <p:nvPr/>
        </p:nvSpPr>
        <p:spPr>
          <a:xfrm>
            <a:off x="1676400" y="5201285"/>
            <a:ext cx="3192780" cy="584775"/>
          </a:xfrm>
          <a:prstGeom prst="rect">
            <a:avLst/>
          </a:prstGeom>
          <a:noFill/>
        </p:spPr>
        <p:txBody>
          <a:bodyPr wrap="square" rtlCol="0">
            <a:spAutoFit/>
          </a:bodyPr>
          <a:lstStyle/>
          <a:p>
            <a:r>
              <a:rPr lang="en-GB" sz="3200" b="1" dirty="0"/>
              <a:t>January to March</a:t>
            </a:r>
            <a:endParaRPr lang="en-GB" sz="3200" dirty="0"/>
          </a:p>
        </p:txBody>
      </p:sp>
      <p:pic>
        <p:nvPicPr>
          <p:cNvPr id="6" name="Picture 5" descr="A black background with a black square&#10;&#10;AI-generated content may be incorrect.">
            <a:extLst>
              <a:ext uri="{FF2B5EF4-FFF2-40B4-BE49-F238E27FC236}">
                <a16:creationId xmlns:a16="http://schemas.microsoft.com/office/drawing/2014/main" id="{77EF25F3-001F-8867-1CC4-A968FF239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2532482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13145-E1B4-52B4-FB11-724AC65FEA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9BBA69-39DE-DF40-6400-50206C546020}"/>
              </a:ext>
            </a:extLst>
          </p:cNvPr>
          <p:cNvSpPr>
            <a:spLocks noGrp="1"/>
          </p:cNvSpPr>
          <p:nvPr>
            <p:ph idx="1"/>
          </p:nvPr>
        </p:nvSpPr>
        <p:spPr>
          <a:xfrm>
            <a:off x="838200" y="1825625"/>
            <a:ext cx="608463" cy="4351338"/>
          </a:xfrm>
        </p:spPr>
        <p:txBody>
          <a:bodyPr>
            <a:normAutofit lnSpcReduction="10000"/>
          </a:bodyPr>
          <a:lstStyle/>
          <a:p>
            <a:pPr marL="0" indent="0">
              <a:buNone/>
            </a:pPr>
            <a:r>
              <a:rPr lang="en-GB" sz="5400" dirty="0">
                <a:solidFill>
                  <a:schemeClr val="bg1">
                    <a:lumMod val="75000"/>
                  </a:schemeClr>
                </a:solidFill>
              </a:rPr>
              <a:t>1</a:t>
            </a:r>
          </a:p>
          <a:p>
            <a:pPr marL="0" indent="0">
              <a:buNone/>
            </a:pPr>
            <a:r>
              <a:rPr lang="en-GB" sz="5400" dirty="0"/>
              <a:t>2</a:t>
            </a:r>
          </a:p>
          <a:p>
            <a:pPr marL="0" indent="0">
              <a:buNone/>
            </a:pPr>
            <a:r>
              <a:rPr lang="en-GB" sz="5400" dirty="0">
                <a:solidFill>
                  <a:schemeClr val="bg1">
                    <a:lumMod val="75000"/>
                  </a:schemeClr>
                </a:solidFill>
              </a:rPr>
              <a:t>3</a:t>
            </a:r>
          </a:p>
          <a:p>
            <a:pPr marL="0" indent="0">
              <a:buNone/>
            </a:pPr>
            <a:r>
              <a:rPr lang="en-GB" sz="5400" dirty="0">
                <a:solidFill>
                  <a:schemeClr val="bg1">
                    <a:lumMod val="75000"/>
                  </a:schemeClr>
                </a:solidFill>
              </a:rPr>
              <a:t>4</a:t>
            </a:r>
          </a:p>
          <a:p>
            <a:pPr marL="0" indent="0">
              <a:buNone/>
            </a:pPr>
            <a:r>
              <a:rPr lang="en-GB" sz="5400" dirty="0">
                <a:solidFill>
                  <a:schemeClr val="bg1">
                    <a:lumMod val="75000"/>
                  </a:schemeClr>
                </a:solidFill>
              </a:rPr>
              <a:t>5</a:t>
            </a:r>
          </a:p>
        </p:txBody>
      </p:sp>
      <p:sp>
        <p:nvSpPr>
          <p:cNvPr id="4" name="TextBox 3">
            <a:extLst>
              <a:ext uri="{FF2B5EF4-FFF2-40B4-BE49-F238E27FC236}">
                <a16:creationId xmlns:a16="http://schemas.microsoft.com/office/drawing/2014/main" id="{E538E5E4-F2B9-357B-2E68-E3A746B97EB1}"/>
              </a:ext>
            </a:extLst>
          </p:cNvPr>
          <p:cNvSpPr txBox="1"/>
          <p:nvPr/>
        </p:nvSpPr>
        <p:spPr>
          <a:xfrm>
            <a:off x="1676400" y="1825625"/>
            <a:ext cx="9937750" cy="2554545"/>
          </a:xfrm>
          <a:prstGeom prst="rect">
            <a:avLst/>
          </a:prstGeom>
          <a:noFill/>
        </p:spPr>
        <p:txBody>
          <a:bodyPr wrap="square" rtlCol="0">
            <a:spAutoFit/>
          </a:bodyPr>
          <a:lstStyle/>
          <a:p>
            <a:r>
              <a:rPr lang="en-GB" sz="3200" b="1" dirty="0"/>
              <a:t>Deployment of a 5G Radio Access Network</a:t>
            </a:r>
          </a:p>
          <a:p>
            <a:r>
              <a:rPr lang="en-GB" sz="3200" dirty="0"/>
              <a:t>Deployment of a 5G Radio Access Network using </a:t>
            </a:r>
            <a:r>
              <a:rPr lang="en-GB" sz="3200" dirty="0" err="1"/>
              <a:t>srsRAN</a:t>
            </a:r>
            <a:r>
              <a:rPr lang="en-GB" sz="3200" dirty="0"/>
              <a:t>, an open-source RAN implementation, and a </a:t>
            </a:r>
            <a:r>
              <a:rPr lang="en-GB" sz="3200" dirty="0" err="1"/>
              <a:t>Nuand</a:t>
            </a:r>
            <a:r>
              <a:rPr lang="en-GB" sz="3200" dirty="0"/>
              <a:t> </a:t>
            </a:r>
            <a:r>
              <a:rPr lang="en-GB" sz="3200" dirty="0" err="1"/>
              <a:t>bladeRF</a:t>
            </a:r>
            <a:r>
              <a:rPr lang="en-GB" sz="3200" dirty="0"/>
              <a:t> xA4 Software-defined Radio. The RAN shall be configured and tested to ensure full operation with the 5G Core.</a:t>
            </a:r>
          </a:p>
        </p:txBody>
      </p:sp>
      <p:sp>
        <p:nvSpPr>
          <p:cNvPr id="9" name="Title 1">
            <a:extLst>
              <a:ext uri="{FF2B5EF4-FFF2-40B4-BE49-F238E27FC236}">
                <a16:creationId xmlns:a16="http://schemas.microsoft.com/office/drawing/2014/main" id="{D44B2B98-9C9D-256C-970B-11881EBCFA99}"/>
              </a:ext>
            </a:extLst>
          </p:cNvPr>
          <p:cNvSpPr>
            <a:spLocks noGrp="1"/>
          </p:cNvSpPr>
          <p:nvPr>
            <p:ph type="title"/>
          </p:nvPr>
        </p:nvSpPr>
        <p:spPr>
          <a:xfrm>
            <a:off x="1023938" y="585788"/>
            <a:ext cx="9720262" cy="1498600"/>
          </a:xfrm>
        </p:spPr>
        <p:txBody>
          <a:bodyPr/>
          <a:lstStyle/>
          <a:p>
            <a:r>
              <a:rPr lang="en-GB" dirty="0">
                <a:latin typeface="Amasis MT Pro" panose="020F0502020204030204" pitchFamily="18" charset="0"/>
              </a:rPr>
              <a:t>Workplan schedule</a:t>
            </a:r>
          </a:p>
        </p:txBody>
      </p:sp>
      <p:sp>
        <p:nvSpPr>
          <p:cNvPr id="10" name="TextBox 9">
            <a:extLst>
              <a:ext uri="{FF2B5EF4-FFF2-40B4-BE49-F238E27FC236}">
                <a16:creationId xmlns:a16="http://schemas.microsoft.com/office/drawing/2014/main" id="{E2212C83-AB3C-F919-8067-DF54B4686314}"/>
              </a:ext>
            </a:extLst>
          </p:cNvPr>
          <p:cNvSpPr txBox="1"/>
          <p:nvPr/>
        </p:nvSpPr>
        <p:spPr>
          <a:xfrm>
            <a:off x="1676400" y="5201285"/>
            <a:ext cx="3192780" cy="584775"/>
          </a:xfrm>
          <a:prstGeom prst="rect">
            <a:avLst/>
          </a:prstGeom>
          <a:noFill/>
        </p:spPr>
        <p:txBody>
          <a:bodyPr wrap="square" rtlCol="0">
            <a:spAutoFit/>
          </a:bodyPr>
          <a:lstStyle/>
          <a:p>
            <a:r>
              <a:rPr lang="en-GB" sz="3200" b="1" dirty="0"/>
              <a:t>March and April</a:t>
            </a:r>
            <a:endParaRPr lang="en-GB" sz="3200" dirty="0"/>
          </a:p>
        </p:txBody>
      </p:sp>
      <p:pic>
        <p:nvPicPr>
          <p:cNvPr id="11" name="Picture 10" descr="A black background with a black square&#10;&#10;AI-generated content may be incorrect.">
            <a:extLst>
              <a:ext uri="{FF2B5EF4-FFF2-40B4-BE49-F238E27FC236}">
                <a16:creationId xmlns:a16="http://schemas.microsoft.com/office/drawing/2014/main" id="{6E1AC1E2-64EF-FAED-ED68-CF2603D43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349132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CBFCA-EEDE-77EF-3489-E6AA2316C1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43F026-5D3D-BAA6-FB6A-732A78AEB2F4}"/>
              </a:ext>
            </a:extLst>
          </p:cNvPr>
          <p:cNvSpPr>
            <a:spLocks noGrp="1"/>
          </p:cNvSpPr>
          <p:nvPr>
            <p:ph idx="1"/>
          </p:nvPr>
        </p:nvSpPr>
        <p:spPr>
          <a:xfrm>
            <a:off x="838200" y="1825625"/>
            <a:ext cx="608463" cy="4351338"/>
          </a:xfrm>
        </p:spPr>
        <p:txBody>
          <a:bodyPr>
            <a:normAutofit lnSpcReduction="10000"/>
          </a:bodyPr>
          <a:lstStyle/>
          <a:p>
            <a:pPr marL="0" indent="0">
              <a:buNone/>
            </a:pPr>
            <a:r>
              <a:rPr lang="en-GB" sz="5400" dirty="0">
                <a:solidFill>
                  <a:schemeClr val="bg1">
                    <a:lumMod val="75000"/>
                  </a:schemeClr>
                </a:solidFill>
              </a:rPr>
              <a:t>1</a:t>
            </a:r>
          </a:p>
          <a:p>
            <a:pPr marL="0" indent="0">
              <a:buNone/>
            </a:pPr>
            <a:r>
              <a:rPr lang="en-GB" sz="5400" dirty="0">
                <a:solidFill>
                  <a:schemeClr val="bg1">
                    <a:lumMod val="75000"/>
                  </a:schemeClr>
                </a:solidFill>
              </a:rPr>
              <a:t>2</a:t>
            </a:r>
          </a:p>
          <a:p>
            <a:pPr marL="0" indent="0">
              <a:buNone/>
            </a:pPr>
            <a:r>
              <a:rPr lang="en-GB" sz="5400" dirty="0"/>
              <a:t>3</a:t>
            </a:r>
          </a:p>
          <a:p>
            <a:pPr marL="0" indent="0">
              <a:buNone/>
            </a:pPr>
            <a:r>
              <a:rPr lang="en-GB" sz="5400" dirty="0">
                <a:solidFill>
                  <a:schemeClr val="bg1">
                    <a:lumMod val="75000"/>
                  </a:schemeClr>
                </a:solidFill>
              </a:rPr>
              <a:t>4</a:t>
            </a:r>
          </a:p>
          <a:p>
            <a:pPr marL="0" indent="0">
              <a:buNone/>
            </a:pPr>
            <a:r>
              <a:rPr lang="en-GB" sz="5400" dirty="0">
                <a:solidFill>
                  <a:schemeClr val="bg1">
                    <a:lumMod val="75000"/>
                  </a:schemeClr>
                </a:solidFill>
              </a:rPr>
              <a:t>5</a:t>
            </a:r>
          </a:p>
        </p:txBody>
      </p:sp>
      <p:sp>
        <p:nvSpPr>
          <p:cNvPr id="4" name="TextBox 3">
            <a:extLst>
              <a:ext uri="{FF2B5EF4-FFF2-40B4-BE49-F238E27FC236}">
                <a16:creationId xmlns:a16="http://schemas.microsoft.com/office/drawing/2014/main" id="{1E699319-6577-4358-8D0F-135A1B713B56}"/>
              </a:ext>
            </a:extLst>
          </p:cNvPr>
          <p:cNvSpPr txBox="1"/>
          <p:nvPr/>
        </p:nvSpPr>
        <p:spPr>
          <a:xfrm>
            <a:off x="1676400" y="1825625"/>
            <a:ext cx="9937750" cy="3046988"/>
          </a:xfrm>
          <a:prstGeom prst="rect">
            <a:avLst/>
          </a:prstGeom>
          <a:noFill/>
        </p:spPr>
        <p:txBody>
          <a:bodyPr wrap="square" rtlCol="0">
            <a:spAutoFit/>
          </a:bodyPr>
          <a:lstStyle/>
          <a:p>
            <a:r>
              <a:rPr lang="en-GB" sz="3200" b="1" dirty="0"/>
              <a:t>Deployment of the 5G Core</a:t>
            </a:r>
          </a:p>
          <a:p>
            <a:r>
              <a:rPr lang="en-GB" sz="3200" dirty="0"/>
              <a:t>Deployment of the 5G Core using Open5GS, an open-source 5G Core implementation containing all essential network functions. The Core network shall be configured and validated to ensure full operation with the RAN.</a:t>
            </a:r>
          </a:p>
        </p:txBody>
      </p:sp>
      <p:sp>
        <p:nvSpPr>
          <p:cNvPr id="8" name="Title 1">
            <a:extLst>
              <a:ext uri="{FF2B5EF4-FFF2-40B4-BE49-F238E27FC236}">
                <a16:creationId xmlns:a16="http://schemas.microsoft.com/office/drawing/2014/main" id="{D1352172-38E4-7BE5-ECD9-33F2F6BD18F0}"/>
              </a:ext>
            </a:extLst>
          </p:cNvPr>
          <p:cNvSpPr>
            <a:spLocks noGrp="1"/>
          </p:cNvSpPr>
          <p:nvPr>
            <p:ph type="title"/>
          </p:nvPr>
        </p:nvSpPr>
        <p:spPr>
          <a:xfrm>
            <a:off x="1023938" y="585788"/>
            <a:ext cx="9720262" cy="1498600"/>
          </a:xfrm>
        </p:spPr>
        <p:txBody>
          <a:bodyPr/>
          <a:lstStyle/>
          <a:p>
            <a:r>
              <a:rPr lang="en-GB" dirty="0">
                <a:latin typeface="Amasis MT Pro" panose="020F0502020204030204" pitchFamily="18" charset="0"/>
              </a:rPr>
              <a:t>Workplan schedule</a:t>
            </a:r>
          </a:p>
        </p:txBody>
      </p:sp>
      <p:sp>
        <p:nvSpPr>
          <p:cNvPr id="9" name="TextBox 8">
            <a:extLst>
              <a:ext uri="{FF2B5EF4-FFF2-40B4-BE49-F238E27FC236}">
                <a16:creationId xmlns:a16="http://schemas.microsoft.com/office/drawing/2014/main" id="{2B1B2224-57E6-7A2E-AC09-F62CAE61CD52}"/>
              </a:ext>
            </a:extLst>
          </p:cNvPr>
          <p:cNvSpPr txBox="1"/>
          <p:nvPr/>
        </p:nvSpPr>
        <p:spPr>
          <a:xfrm>
            <a:off x="1676400" y="5201285"/>
            <a:ext cx="3192780" cy="584775"/>
          </a:xfrm>
          <a:prstGeom prst="rect">
            <a:avLst/>
          </a:prstGeom>
          <a:noFill/>
        </p:spPr>
        <p:txBody>
          <a:bodyPr wrap="square" rtlCol="0">
            <a:spAutoFit/>
          </a:bodyPr>
          <a:lstStyle/>
          <a:p>
            <a:r>
              <a:rPr lang="en-GB" sz="3200" b="1" dirty="0"/>
              <a:t>April and May</a:t>
            </a:r>
            <a:endParaRPr lang="en-GB" sz="3200" dirty="0"/>
          </a:p>
        </p:txBody>
      </p:sp>
      <p:pic>
        <p:nvPicPr>
          <p:cNvPr id="10" name="Picture 9" descr="A black background with a black square&#10;&#10;AI-generated content may be incorrect.">
            <a:extLst>
              <a:ext uri="{FF2B5EF4-FFF2-40B4-BE49-F238E27FC236}">
                <a16:creationId xmlns:a16="http://schemas.microsoft.com/office/drawing/2014/main" id="{D3E61D60-8E8C-F27B-441F-C734623DF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2172441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288B8-8326-768F-DA6C-DAC7C1F65A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4ACEA-19FF-7265-6D65-1197A7821B08}"/>
              </a:ext>
            </a:extLst>
          </p:cNvPr>
          <p:cNvSpPr>
            <a:spLocks noGrp="1"/>
          </p:cNvSpPr>
          <p:nvPr>
            <p:ph idx="1"/>
          </p:nvPr>
        </p:nvSpPr>
        <p:spPr>
          <a:xfrm>
            <a:off x="838200" y="1825625"/>
            <a:ext cx="608463" cy="4351338"/>
          </a:xfrm>
        </p:spPr>
        <p:txBody>
          <a:bodyPr>
            <a:normAutofit lnSpcReduction="10000"/>
          </a:bodyPr>
          <a:lstStyle/>
          <a:p>
            <a:pPr marL="0" indent="0">
              <a:buNone/>
            </a:pPr>
            <a:r>
              <a:rPr lang="en-GB" sz="5400" dirty="0">
                <a:solidFill>
                  <a:schemeClr val="bg1">
                    <a:lumMod val="75000"/>
                  </a:schemeClr>
                </a:solidFill>
              </a:rPr>
              <a:t>1</a:t>
            </a:r>
          </a:p>
          <a:p>
            <a:pPr marL="0" indent="0">
              <a:buNone/>
            </a:pPr>
            <a:r>
              <a:rPr lang="en-GB" sz="5400" dirty="0">
                <a:solidFill>
                  <a:schemeClr val="bg1">
                    <a:lumMod val="75000"/>
                  </a:schemeClr>
                </a:solidFill>
              </a:rPr>
              <a:t>2</a:t>
            </a:r>
          </a:p>
          <a:p>
            <a:pPr marL="0" indent="0">
              <a:buNone/>
            </a:pPr>
            <a:r>
              <a:rPr lang="en-GB" sz="5400" dirty="0">
                <a:solidFill>
                  <a:schemeClr val="bg1">
                    <a:lumMod val="75000"/>
                  </a:schemeClr>
                </a:solidFill>
              </a:rPr>
              <a:t>3</a:t>
            </a:r>
          </a:p>
          <a:p>
            <a:pPr marL="0" indent="0">
              <a:buNone/>
            </a:pPr>
            <a:r>
              <a:rPr lang="en-GB" sz="5400" dirty="0"/>
              <a:t>4</a:t>
            </a:r>
          </a:p>
          <a:p>
            <a:pPr marL="0" indent="0">
              <a:buNone/>
            </a:pPr>
            <a:r>
              <a:rPr lang="en-GB" sz="5400" dirty="0">
                <a:solidFill>
                  <a:schemeClr val="bg1">
                    <a:lumMod val="75000"/>
                  </a:schemeClr>
                </a:solidFill>
              </a:rPr>
              <a:t>5</a:t>
            </a:r>
          </a:p>
        </p:txBody>
      </p:sp>
      <p:sp>
        <p:nvSpPr>
          <p:cNvPr id="4" name="TextBox 3">
            <a:extLst>
              <a:ext uri="{FF2B5EF4-FFF2-40B4-BE49-F238E27FC236}">
                <a16:creationId xmlns:a16="http://schemas.microsoft.com/office/drawing/2014/main" id="{E0A6A4BA-C2D9-C3D1-73AF-201A0B4A0D37}"/>
              </a:ext>
            </a:extLst>
          </p:cNvPr>
          <p:cNvSpPr txBox="1"/>
          <p:nvPr/>
        </p:nvSpPr>
        <p:spPr>
          <a:xfrm>
            <a:off x="1676400" y="1825625"/>
            <a:ext cx="9937750" cy="3539430"/>
          </a:xfrm>
          <a:prstGeom prst="rect">
            <a:avLst/>
          </a:prstGeom>
          <a:noFill/>
        </p:spPr>
        <p:txBody>
          <a:bodyPr wrap="square" rtlCol="0">
            <a:spAutoFit/>
          </a:bodyPr>
          <a:lstStyle/>
          <a:p>
            <a:r>
              <a:rPr lang="en-GB" sz="3200" b="1" dirty="0"/>
              <a:t>Performance Evaluation and Analysis</a:t>
            </a:r>
          </a:p>
          <a:p>
            <a:r>
              <a:rPr lang="en-GB" sz="3200" dirty="0"/>
              <a:t>Evaluation of the deployed network’s performance, with a focus on KPIs such as throughput, latency, reliability and handover performance, using the appropriate testing tools. These results shall be analysed as to validate the network setup against the expected theoretical performance, as well as industry standards.</a:t>
            </a:r>
          </a:p>
        </p:txBody>
      </p:sp>
      <p:sp>
        <p:nvSpPr>
          <p:cNvPr id="7" name="Title 1">
            <a:extLst>
              <a:ext uri="{FF2B5EF4-FFF2-40B4-BE49-F238E27FC236}">
                <a16:creationId xmlns:a16="http://schemas.microsoft.com/office/drawing/2014/main" id="{B60E1561-3C5A-07B6-DA37-459D4A223129}"/>
              </a:ext>
            </a:extLst>
          </p:cNvPr>
          <p:cNvSpPr>
            <a:spLocks noGrp="1"/>
          </p:cNvSpPr>
          <p:nvPr>
            <p:ph type="title"/>
          </p:nvPr>
        </p:nvSpPr>
        <p:spPr>
          <a:xfrm>
            <a:off x="1023938" y="585788"/>
            <a:ext cx="9720262" cy="1498600"/>
          </a:xfrm>
        </p:spPr>
        <p:txBody>
          <a:bodyPr/>
          <a:lstStyle/>
          <a:p>
            <a:r>
              <a:rPr lang="en-GB" dirty="0">
                <a:latin typeface="Amasis MT Pro" panose="020F0502020204030204" pitchFamily="18" charset="0"/>
              </a:rPr>
              <a:t>Workplan schedule</a:t>
            </a:r>
          </a:p>
        </p:txBody>
      </p:sp>
      <p:sp>
        <p:nvSpPr>
          <p:cNvPr id="8" name="TextBox 7">
            <a:extLst>
              <a:ext uri="{FF2B5EF4-FFF2-40B4-BE49-F238E27FC236}">
                <a16:creationId xmlns:a16="http://schemas.microsoft.com/office/drawing/2014/main" id="{915520CC-3509-000F-8A25-D6B616DC78A8}"/>
              </a:ext>
            </a:extLst>
          </p:cNvPr>
          <p:cNvSpPr txBox="1"/>
          <p:nvPr/>
        </p:nvSpPr>
        <p:spPr>
          <a:xfrm>
            <a:off x="1676400" y="5201285"/>
            <a:ext cx="3192780" cy="584775"/>
          </a:xfrm>
          <a:prstGeom prst="rect">
            <a:avLst/>
          </a:prstGeom>
          <a:noFill/>
        </p:spPr>
        <p:txBody>
          <a:bodyPr wrap="square" rtlCol="0">
            <a:spAutoFit/>
          </a:bodyPr>
          <a:lstStyle/>
          <a:p>
            <a:r>
              <a:rPr lang="en-GB" sz="3200" b="1" dirty="0"/>
              <a:t>May onwards</a:t>
            </a:r>
            <a:endParaRPr lang="en-GB" sz="3200" dirty="0"/>
          </a:p>
        </p:txBody>
      </p:sp>
      <p:pic>
        <p:nvPicPr>
          <p:cNvPr id="9" name="Picture 8" descr="A black background with a black square&#10;&#10;AI-generated content may be incorrect.">
            <a:extLst>
              <a:ext uri="{FF2B5EF4-FFF2-40B4-BE49-F238E27FC236}">
                <a16:creationId xmlns:a16="http://schemas.microsoft.com/office/drawing/2014/main" id="{7B131406-79FE-696F-A021-F213DD044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3961800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7FBFC-F3C8-033E-ACF8-7BAB7E85D9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8988D0-28EB-8AD7-A88B-7EB076BAFD69}"/>
              </a:ext>
            </a:extLst>
          </p:cNvPr>
          <p:cNvSpPr>
            <a:spLocks noGrp="1"/>
          </p:cNvSpPr>
          <p:nvPr>
            <p:ph idx="1"/>
          </p:nvPr>
        </p:nvSpPr>
        <p:spPr>
          <a:xfrm>
            <a:off x="838200" y="1825625"/>
            <a:ext cx="608463" cy="4351338"/>
          </a:xfrm>
        </p:spPr>
        <p:txBody>
          <a:bodyPr>
            <a:normAutofit lnSpcReduction="10000"/>
          </a:bodyPr>
          <a:lstStyle/>
          <a:p>
            <a:pPr marL="0" indent="0">
              <a:buNone/>
            </a:pPr>
            <a:r>
              <a:rPr lang="en-GB" sz="5400" dirty="0">
                <a:solidFill>
                  <a:schemeClr val="bg1">
                    <a:lumMod val="75000"/>
                  </a:schemeClr>
                </a:solidFill>
              </a:rPr>
              <a:t>1</a:t>
            </a:r>
          </a:p>
          <a:p>
            <a:pPr marL="0" indent="0">
              <a:buNone/>
            </a:pPr>
            <a:r>
              <a:rPr lang="en-GB" sz="5400" dirty="0">
                <a:solidFill>
                  <a:schemeClr val="bg1">
                    <a:lumMod val="75000"/>
                  </a:schemeClr>
                </a:solidFill>
              </a:rPr>
              <a:t>2</a:t>
            </a:r>
          </a:p>
          <a:p>
            <a:pPr marL="0" indent="0">
              <a:buNone/>
            </a:pPr>
            <a:r>
              <a:rPr lang="en-GB" sz="5400" dirty="0">
                <a:solidFill>
                  <a:schemeClr val="bg1">
                    <a:lumMod val="75000"/>
                  </a:schemeClr>
                </a:solidFill>
              </a:rPr>
              <a:t>3</a:t>
            </a:r>
          </a:p>
          <a:p>
            <a:pPr marL="0" indent="0">
              <a:buNone/>
            </a:pPr>
            <a:r>
              <a:rPr lang="en-GB" sz="5400" dirty="0">
                <a:solidFill>
                  <a:schemeClr val="bg1">
                    <a:lumMod val="75000"/>
                  </a:schemeClr>
                </a:solidFill>
              </a:rPr>
              <a:t>4</a:t>
            </a:r>
          </a:p>
          <a:p>
            <a:pPr marL="0" indent="0">
              <a:buNone/>
            </a:pPr>
            <a:r>
              <a:rPr lang="en-GB" sz="5400" dirty="0"/>
              <a:t>5</a:t>
            </a:r>
          </a:p>
        </p:txBody>
      </p:sp>
      <p:sp>
        <p:nvSpPr>
          <p:cNvPr id="4" name="TextBox 3">
            <a:extLst>
              <a:ext uri="{FF2B5EF4-FFF2-40B4-BE49-F238E27FC236}">
                <a16:creationId xmlns:a16="http://schemas.microsoft.com/office/drawing/2014/main" id="{C6DD75CB-3508-FFA1-0042-7F95F070F65B}"/>
              </a:ext>
            </a:extLst>
          </p:cNvPr>
          <p:cNvSpPr txBox="1"/>
          <p:nvPr/>
        </p:nvSpPr>
        <p:spPr>
          <a:xfrm>
            <a:off x="1676400" y="1825625"/>
            <a:ext cx="9937750" cy="2062103"/>
          </a:xfrm>
          <a:prstGeom prst="rect">
            <a:avLst/>
          </a:prstGeom>
          <a:noFill/>
        </p:spPr>
        <p:txBody>
          <a:bodyPr wrap="square" rtlCol="0">
            <a:spAutoFit/>
          </a:bodyPr>
          <a:lstStyle/>
          <a:p>
            <a:r>
              <a:rPr lang="en-GB" sz="3200" b="1" dirty="0"/>
              <a:t>Reporting and Writing</a:t>
            </a:r>
          </a:p>
          <a:p>
            <a:r>
              <a:rPr lang="en-GB" sz="3200" dirty="0"/>
              <a:t>All deployment procedures, code snippets, findings, design choices and performance results shall be reported in the MSc thesis draft.</a:t>
            </a:r>
          </a:p>
        </p:txBody>
      </p:sp>
      <p:sp>
        <p:nvSpPr>
          <p:cNvPr id="7" name="Title 1">
            <a:extLst>
              <a:ext uri="{FF2B5EF4-FFF2-40B4-BE49-F238E27FC236}">
                <a16:creationId xmlns:a16="http://schemas.microsoft.com/office/drawing/2014/main" id="{9F243747-0996-DD52-E6F0-7C5E1FC54E5D}"/>
              </a:ext>
            </a:extLst>
          </p:cNvPr>
          <p:cNvSpPr>
            <a:spLocks noGrp="1"/>
          </p:cNvSpPr>
          <p:nvPr>
            <p:ph type="title"/>
          </p:nvPr>
        </p:nvSpPr>
        <p:spPr>
          <a:xfrm>
            <a:off x="1023938" y="585788"/>
            <a:ext cx="9720262" cy="1498600"/>
          </a:xfrm>
        </p:spPr>
        <p:txBody>
          <a:bodyPr/>
          <a:lstStyle/>
          <a:p>
            <a:r>
              <a:rPr lang="en-GB" dirty="0">
                <a:latin typeface="Amasis MT Pro" panose="020F0502020204030204" pitchFamily="18" charset="0"/>
              </a:rPr>
              <a:t>Workplan schedule</a:t>
            </a:r>
          </a:p>
        </p:txBody>
      </p:sp>
      <p:sp>
        <p:nvSpPr>
          <p:cNvPr id="8" name="TextBox 7">
            <a:extLst>
              <a:ext uri="{FF2B5EF4-FFF2-40B4-BE49-F238E27FC236}">
                <a16:creationId xmlns:a16="http://schemas.microsoft.com/office/drawing/2014/main" id="{C44D00FC-4DFF-2C0B-FCFB-79C637C6EB38}"/>
              </a:ext>
            </a:extLst>
          </p:cNvPr>
          <p:cNvSpPr txBox="1"/>
          <p:nvPr/>
        </p:nvSpPr>
        <p:spPr>
          <a:xfrm>
            <a:off x="1676400" y="5201285"/>
            <a:ext cx="3192780" cy="584775"/>
          </a:xfrm>
          <a:prstGeom prst="rect">
            <a:avLst/>
          </a:prstGeom>
          <a:noFill/>
        </p:spPr>
        <p:txBody>
          <a:bodyPr wrap="square" rtlCol="0">
            <a:spAutoFit/>
          </a:bodyPr>
          <a:lstStyle/>
          <a:p>
            <a:r>
              <a:rPr lang="en-GB" sz="3200" b="1" dirty="0"/>
              <a:t>July onwards</a:t>
            </a:r>
            <a:endParaRPr lang="en-GB" sz="3200" dirty="0"/>
          </a:p>
        </p:txBody>
      </p:sp>
      <p:pic>
        <p:nvPicPr>
          <p:cNvPr id="9" name="Picture 8" descr="A black background with a black square&#10;&#10;AI-generated content may be incorrect.">
            <a:extLst>
              <a:ext uri="{FF2B5EF4-FFF2-40B4-BE49-F238E27FC236}">
                <a16:creationId xmlns:a16="http://schemas.microsoft.com/office/drawing/2014/main" id="{892B53C2-DDBC-4356-533B-F3A0CCEE1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spTree>
    <p:extLst>
      <p:ext uri="{BB962C8B-B14F-4D97-AF65-F5344CB8AC3E}">
        <p14:creationId xmlns:p14="http://schemas.microsoft.com/office/powerpoint/2010/main" val="877521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425C7-B666-D3C5-743A-932FB8FB2A2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BFFC01A-18EC-6D95-65B1-C5F95E7849BC}"/>
              </a:ext>
            </a:extLst>
          </p:cNvPr>
          <p:cNvSpPr>
            <a:spLocks noGrp="1"/>
          </p:cNvSpPr>
          <p:nvPr>
            <p:ph type="title"/>
          </p:nvPr>
        </p:nvSpPr>
        <p:spPr>
          <a:xfrm>
            <a:off x="1023938" y="585788"/>
            <a:ext cx="9720262" cy="1498600"/>
          </a:xfrm>
        </p:spPr>
        <p:txBody>
          <a:bodyPr/>
          <a:lstStyle/>
          <a:p>
            <a:r>
              <a:rPr lang="en-GB" dirty="0">
                <a:latin typeface="Amasis MT Pro" panose="020F0502020204030204" pitchFamily="18" charset="0"/>
              </a:rPr>
              <a:t>Workplan schedule</a:t>
            </a:r>
          </a:p>
        </p:txBody>
      </p:sp>
      <p:pic>
        <p:nvPicPr>
          <p:cNvPr id="9" name="Picture 8" descr="A black background with a black square&#10;&#10;AI-generated content may be incorrect.">
            <a:extLst>
              <a:ext uri="{FF2B5EF4-FFF2-40B4-BE49-F238E27FC236}">
                <a16:creationId xmlns:a16="http://schemas.microsoft.com/office/drawing/2014/main" id="{5164D33A-237E-25BF-FA28-907D71DD7D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0" y="6456681"/>
            <a:ext cx="1805937" cy="401319"/>
          </a:xfrm>
          <a:prstGeom prst="rect">
            <a:avLst/>
          </a:prstGeom>
        </p:spPr>
      </p:pic>
      <p:graphicFrame>
        <p:nvGraphicFramePr>
          <p:cNvPr id="6" name="Content Placeholder 5">
            <a:extLst>
              <a:ext uri="{FF2B5EF4-FFF2-40B4-BE49-F238E27FC236}">
                <a16:creationId xmlns:a16="http://schemas.microsoft.com/office/drawing/2014/main" id="{77CEF1BE-5BDF-69BB-8C10-291BF91ABEC3}"/>
              </a:ext>
            </a:extLst>
          </p:cNvPr>
          <p:cNvGraphicFramePr>
            <a:graphicFrameLocks noGrp="1"/>
          </p:cNvGraphicFramePr>
          <p:nvPr>
            <p:ph idx="1"/>
            <p:extLst>
              <p:ext uri="{D42A27DB-BD31-4B8C-83A1-F6EECF244321}">
                <p14:modId xmlns:p14="http://schemas.microsoft.com/office/powerpoint/2010/main" val="234401842"/>
              </p:ext>
            </p:extLst>
          </p:nvPr>
        </p:nvGraphicFramePr>
        <p:xfrm>
          <a:off x="750252" y="2292350"/>
          <a:ext cx="10691497" cy="3200400"/>
        </p:xfrm>
        <a:graphic>
          <a:graphicData uri="http://schemas.openxmlformats.org/drawingml/2006/table">
            <a:tbl>
              <a:tblPr firstRow="1" bandRow="1">
                <a:tableStyleId>{5C22544A-7EE6-4342-B048-85BDC9FD1C3A}</a:tableStyleId>
              </a:tblPr>
              <a:tblGrid>
                <a:gridCol w="5831497">
                  <a:extLst>
                    <a:ext uri="{9D8B030D-6E8A-4147-A177-3AD203B41FA5}">
                      <a16:colId xmlns:a16="http://schemas.microsoft.com/office/drawing/2014/main" val="1098685742"/>
                    </a:ext>
                  </a:extLst>
                </a:gridCol>
                <a:gridCol w="540000">
                  <a:extLst>
                    <a:ext uri="{9D8B030D-6E8A-4147-A177-3AD203B41FA5}">
                      <a16:colId xmlns:a16="http://schemas.microsoft.com/office/drawing/2014/main" val="3892666131"/>
                    </a:ext>
                  </a:extLst>
                </a:gridCol>
                <a:gridCol w="540000">
                  <a:extLst>
                    <a:ext uri="{9D8B030D-6E8A-4147-A177-3AD203B41FA5}">
                      <a16:colId xmlns:a16="http://schemas.microsoft.com/office/drawing/2014/main" val="885817471"/>
                    </a:ext>
                  </a:extLst>
                </a:gridCol>
                <a:gridCol w="540000">
                  <a:extLst>
                    <a:ext uri="{9D8B030D-6E8A-4147-A177-3AD203B41FA5}">
                      <a16:colId xmlns:a16="http://schemas.microsoft.com/office/drawing/2014/main" val="1619998651"/>
                    </a:ext>
                  </a:extLst>
                </a:gridCol>
                <a:gridCol w="540000">
                  <a:extLst>
                    <a:ext uri="{9D8B030D-6E8A-4147-A177-3AD203B41FA5}">
                      <a16:colId xmlns:a16="http://schemas.microsoft.com/office/drawing/2014/main" val="1495953627"/>
                    </a:ext>
                  </a:extLst>
                </a:gridCol>
                <a:gridCol w="540000">
                  <a:extLst>
                    <a:ext uri="{9D8B030D-6E8A-4147-A177-3AD203B41FA5}">
                      <a16:colId xmlns:a16="http://schemas.microsoft.com/office/drawing/2014/main" val="3446530136"/>
                    </a:ext>
                  </a:extLst>
                </a:gridCol>
                <a:gridCol w="540000">
                  <a:extLst>
                    <a:ext uri="{9D8B030D-6E8A-4147-A177-3AD203B41FA5}">
                      <a16:colId xmlns:a16="http://schemas.microsoft.com/office/drawing/2014/main" val="1341346429"/>
                    </a:ext>
                  </a:extLst>
                </a:gridCol>
                <a:gridCol w="540000">
                  <a:extLst>
                    <a:ext uri="{9D8B030D-6E8A-4147-A177-3AD203B41FA5}">
                      <a16:colId xmlns:a16="http://schemas.microsoft.com/office/drawing/2014/main" val="3771314808"/>
                    </a:ext>
                  </a:extLst>
                </a:gridCol>
                <a:gridCol w="540000">
                  <a:extLst>
                    <a:ext uri="{9D8B030D-6E8A-4147-A177-3AD203B41FA5}">
                      <a16:colId xmlns:a16="http://schemas.microsoft.com/office/drawing/2014/main" val="1571037303"/>
                    </a:ext>
                  </a:extLst>
                </a:gridCol>
                <a:gridCol w="540000">
                  <a:extLst>
                    <a:ext uri="{9D8B030D-6E8A-4147-A177-3AD203B41FA5}">
                      <a16:colId xmlns:a16="http://schemas.microsoft.com/office/drawing/2014/main" val="3004489930"/>
                    </a:ext>
                  </a:extLst>
                </a:gridCol>
              </a:tblGrid>
              <a:tr h="370840">
                <a:tc>
                  <a:txBody>
                    <a:bodyPr/>
                    <a:lstStyle/>
                    <a:p>
                      <a:endParaRPr lang="en-GB" sz="2400" dirty="0"/>
                    </a:p>
                  </a:txBody>
                  <a:tcPr>
                    <a:noFill/>
                  </a:tcPr>
                </a:tc>
                <a:tc gridSpan="9">
                  <a:txBody>
                    <a:bodyPr/>
                    <a:lstStyle/>
                    <a:p>
                      <a:pPr algn="ctr"/>
                      <a:r>
                        <a:rPr lang="en-GB" sz="2400" dirty="0"/>
                        <a:t>Month</a:t>
                      </a:r>
                    </a:p>
                  </a:txBody>
                  <a:tcPr/>
                </a:tc>
                <a:tc hMerge="1">
                  <a:txBody>
                    <a:bodyPr/>
                    <a:lstStyle/>
                    <a:p>
                      <a:endParaRPr lang="en-GB" dirty="0"/>
                    </a:p>
                  </a:txBody>
                  <a:tcPr/>
                </a:tc>
                <a:tc hMerge="1">
                  <a:txBody>
                    <a:bodyPr/>
                    <a:lstStyle/>
                    <a:p>
                      <a:endParaRPr lang="en-GB" dirty="0"/>
                    </a:p>
                  </a:txBody>
                  <a:tcPr/>
                </a:tc>
                <a:tc hMerge="1">
                  <a:txBody>
                    <a:bodyPr/>
                    <a:lstStyle/>
                    <a:p>
                      <a:endParaRPr lang="en-GB"/>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369106094"/>
                  </a:ext>
                </a:extLst>
              </a:tr>
              <a:tr h="370840">
                <a:tc>
                  <a:txBody>
                    <a:bodyPr/>
                    <a:lstStyle/>
                    <a:p>
                      <a:r>
                        <a:rPr lang="en-GB" sz="2400" b="1" dirty="0"/>
                        <a:t>Task</a:t>
                      </a:r>
                    </a:p>
                  </a:txBody>
                  <a:tcPr/>
                </a:tc>
                <a:tc>
                  <a:txBody>
                    <a:bodyPr/>
                    <a:lstStyle/>
                    <a:p>
                      <a:pPr algn="ctr"/>
                      <a:r>
                        <a:rPr lang="en-GB" sz="2400" b="1" dirty="0"/>
                        <a:t>1</a:t>
                      </a:r>
                    </a:p>
                  </a:txBody>
                  <a:tcPr/>
                </a:tc>
                <a:tc>
                  <a:txBody>
                    <a:bodyPr/>
                    <a:lstStyle/>
                    <a:p>
                      <a:pPr algn="ctr"/>
                      <a:r>
                        <a:rPr lang="en-GB" sz="2400" b="1" dirty="0"/>
                        <a:t>2</a:t>
                      </a:r>
                    </a:p>
                  </a:txBody>
                  <a:tcPr/>
                </a:tc>
                <a:tc>
                  <a:txBody>
                    <a:bodyPr/>
                    <a:lstStyle/>
                    <a:p>
                      <a:pPr algn="ctr"/>
                      <a:r>
                        <a:rPr lang="en-GB" sz="2400" b="1" dirty="0"/>
                        <a:t>3</a:t>
                      </a:r>
                    </a:p>
                  </a:txBody>
                  <a:tcPr/>
                </a:tc>
                <a:tc>
                  <a:txBody>
                    <a:bodyPr/>
                    <a:lstStyle/>
                    <a:p>
                      <a:pPr algn="ctr"/>
                      <a:r>
                        <a:rPr lang="en-GB" sz="2400" b="1" dirty="0"/>
                        <a:t>4</a:t>
                      </a:r>
                    </a:p>
                  </a:txBody>
                  <a:tcPr/>
                </a:tc>
                <a:tc>
                  <a:txBody>
                    <a:bodyPr/>
                    <a:lstStyle/>
                    <a:p>
                      <a:pPr algn="ctr"/>
                      <a:r>
                        <a:rPr lang="en-GB" sz="2400" b="1" dirty="0"/>
                        <a:t>5</a:t>
                      </a:r>
                    </a:p>
                  </a:txBody>
                  <a:tcPr/>
                </a:tc>
                <a:tc>
                  <a:txBody>
                    <a:bodyPr/>
                    <a:lstStyle/>
                    <a:p>
                      <a:pPr algn="ctr"/>
                      <a:r>
                        <a:rPr lang="en-GB" sz="2400" b="1" dirty="0"/>
                        <a:t>6</a:t>
                      </a:r>
                    </a:p>
                  </a:txBody>
                  <a:tcPr/>
                </a:tc>
                <a:tc>
                  <a:txBody>
                    <a:bodyPr/>
                    <a:lstStyle/>
                    <a:p>
                      <a:pPr algn="ctr"/>
                      <a:r>
                        <a:rPr lang="en-GB" sz="2400" b="1" dirty="0"/>
                        <a:t>7</a:t>
                      </a:r>
                    </a:p>
                  </a:txBody>
                  <a:tcPr/>
                </a:tc>
                <a:tc>
                  <a:txBody>
                    <a:bodyPr/>
                    <a:lstStyle/>
                    <a:p>
                      <a:pPr algn="ctr"/>
                      <a:r>
                        <a:rPr lang="en-GB" sz="2400" b="1" dirty="0"/>
                        <a:t>8</a:t>
                      </a:r>
                    </a:p>
                  </a:txBody>
                  <a:tcPr/>
                </a:tc>
                <a:tc>
                  <a:txBody>
                    <a:bodyPr/>
                    <a:lstStyle/>
                    <a:p>
                      <a:pPr algn="ctr"/>
                      <a:r>
                        <a:rPr lang="en-GB" sz="2400" b="1" dirty="0"/>
                        <a:t>9</a:t>
                      </a:r>
                    </a:p>
                  </a:txBody>
                  <a:tcPr/>
                </a:tc>
                <a:extLst>
                  <a:ext uri="{0D108BD9-81ED-4DB2-BD59-A6C34878D82A}">
                    <a16:rowId xmlns:a16="http://schemas.microsoft.com/office/drawing/2014/main" val="1265213211"/>
                  </a:ext>
                </a:extLst>
              </a:tr>
              <a:tr h="370840">
                <a:tc>
                  <a:txBody>
                    <a:bodyPr/>
                    <a:lstStyle/>
                    <a:p>
                      <a:r>
                        <a:rPr lang="en-GB" sz="2400" dirty="0"/>
                        <a:t>Literature Review</a:t>
                      </a:r>
                    </a:p>
                  </a:txBody>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a:p>
                  </a:txBody>
                  <a:tcPr/>
                </a:tc>
                <a:extLst>
                  <a:ext uri="{0D108BD9-81ED-4DB2-BD59-A6C34878D82A}">
                    <a16:rowId xmlns:a16="http://schemas.microsoft.com/office/drawing/2014/main" val="2808413817"/>
                  </a:ext>
                </a:extLst>
              </a:tr>
              <a:tr h="370840">
                <a:tc>
                  <a:txBody>
                    <a:bodyPr/>
                    <a:lstStyle/>
                    <a:p>
                      <a:r>
                        <a:rPr lang="en-GB" sz="2400" dirty="0"/>
                        <a:t>Deployment of 5G RAN</a:t>
                      </a:r>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tc>
                  <a:txBody>
                    <a:bodyPr/>
                    <a:lstStyle/>
                    <a:p>
                      <a:pPr algn="ctr"/>
                      <a:endParaRPr lang="en-GB" sz="2400"/>
                    </a:p>
                  </a:txBody>
                  <a:tcPr/>
                </a:tc>
                <a:tc>
                  <a:txBody>
                    <a:bodyPr/>
                    <a:lstStyle/>
                    <a:p>
                      <a:pPr algn="ctr"/>
                      <a:endParaRPr lang="en-GB" sz="2400" dirty="0"/>
                    </a:p>
                  </a:txBody>
                  <a:tcPr/>
                </a:tc>
                <a:tc>
                  <a:txBody>
                    <a:bodyPr/>
                    <a:lstStyle/>
                    <a:p>
                      <a:pPr algn="ctr"/>
                      <a:endParaRPr lang="en-GB" sz="2400"/>
                    </a:p>
                  </a:txBody>
                  <a:tcPr/>
                </a:tc>
                <a:tc>
                  <a:txBody>
                    <a:bodyPr/>
                    <a:lstStyle/>
                    <a:p>
                      <a:pPr algn="ctr"/>
                      <a:endParaRPr lang="en-GB" sz="2400" dirty="0"/>
                    </a:p>
                  </a:txBody>
                  <a:tcPr/>
                </a:tc>
                <a:tc>
                  <a:txBody>
                    <a:bodyPr/>
                    <a:lstStyle/>
                    <a:p>
                      <a:pPr algn="ctr"/>
                      <a:endParaRPr lang="en-GB" sz="2400"/>
                    </a:p>
                  </a:txBody>
                  <a:tcPr/>
                </a:tc>
                <a:extLst>
                  <a:ext uri="{0D108BD9-81ED-4DB2-BD59-A6C34878D82A}">
                    <a16:rowId xmlns:a16="http://schemas.microsoft.com/office/drawing/2014/main" val="45327289"/>
                  </a:ext>
                </a:extLst>
              </a:tr>
              <a:tr h="370840">
                <a:tc>
                  <a:txBody>
                    <a:bodyPr/>
                    <a:lstStyle/>
                    <a:p>
                      <a:r>
                        <a:rPr lang="en-GB" sz="2400" dirty="0"/>
                        <a:t>Deployment of 5G Core</a:t>
                      </a:r>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tc>
                  <a:txBody>
                    <a:bodyPr/>
                    <a:lstStyle/>
                    <a:p>
                      <a:pPr algn="ctr"/>
                      <a:endParaRPr lang="en-GB" sz="2400"/>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dirty="0"/>
                    </a:p>
                  </a:txBody>
                  <a:tcPr/>
                </a:tc>
                <a:extLst>
                  <a:ext uri="{0D108BD9-81ED-4DB2-BD59-A6C34878D82A}">
                    <a16:rowId xmlns:a16="http://schemas.microsoft.com/office/drawing/2014/main" val="2542925237"/>
                  </a:ext>
                </a:extLst>
              </a:tr>
              <a:tr h="370840">
                <a:tc>
                  <a:txBody>
                    <a:bodyPr/>
                    <a:lstStyle/>
                    <a:p>
                      <a:r>
                        <a:rPr lang="en-GB" sz="2400" dirty="0"/>
                        <a:t>Performance Evaluation</a:t>
                      </a:r>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a:p>
                  </a:txBody>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tc>
                  <a:txBody>
                    <a:bodyPr/>
                    <a:lstStyle/>
                    <a:p>
                      <a:pPr algn="ctr"/>
                      <a:endParaRPr lang="en-GB" sz="240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extLst>
                  <a:ext uri="{0D108BD9-81ED-4DB2-BD59-A6C34878D82A}">
                    <a16:rowId xmlns:a16="http://schemas.microsoft.com/office/drawing/2014/main" val="916659139"/>
                  </a:ext>
                </a:extLst>
              </a:tr>
              <a:tr h="370840">
                <a:tc>
                  <a:txBody>
                    <a:bodyPr/>
                    <a:lstStyle/>
                    <a:p>
                      <a:r>
                        <a:rPr lang="en-GB" sz="2400" dirty="0"/>
                        <a:t>Analysis and Reporting</a:t>
                      </a:r>
                    </a:p>
                  </a:txBody>
                  <a:tcPr/>
                </a:tc>
                <a:tc>
                  <a:txBody>
                    <a:bodyPr/>
                    <a:lstStyle/>
                    <a:p>
                      <a:pPr algn="ctr"/>
                      <a:endParaRPr lang="en-GB" sz="2400" dirty="0"/>
                    </a:p>
                  </a:txBody>
                  <a:tcPr/>
                </a:tc>
                <a:tc>
                  <a:txBody>
                    <a:bodyPr/>
                    <a:lstStyle/>
                    <a:p>
                      <a:pPr algn="ctr"/>
                      <a:endParaRPr lang="en-GB" sz="2400" dirty="0"/>
                    </a:p>
                  </a:txBody>
                  <a:tcPr/>
                </a:tc>
                <a:tc>
                  <a:txBody>
                    <a:bodyPr/>
                    <a:lstStyle/>
                    <a:p>
                      <a:pPr algn="ctr"/>
                      <a:endParaRPr lang="en-GB" sz="2400" dirty="0"/>
                    </a:p>
                  </a:txBody>
                  <a:tcPr/>
                </a:tc>
                <a:tc>
                  <a:txBody>
                    <a:bodyPr/>
                    <a:lstStyle/>
                    <a:p>
                      <a:pPr algn="ctr"/>
                      <a:endParaRPr lang="en-GB" sz="2400" dirty="0"/>
                    </a:p>
                  </a:txBody>
                  <a:tcPr/>
                </a:tc>
                <a:tc>
                  <a:txBody>
                    <a:bodyPr/>
                    <a:lstStyle/>
                    <a:p>
                      <a:pPr algn="ctr"/>
                      <a:endParaRPr lang="en-GB" sz="2400" dirty="0"/>
                    </a:p>
                  </a:txBody>
                  <a:tcPr/>
                </a:tc>
                <a:tc>
                  <a:txBody>
                    <a:bodyPr/>
                    <a:lstStyle/>
                    <a:p>
                      <a:pPr algn="ctr"/>
                      <a:endParaRPr lang="en-GB" sz="2400" dirty="0"/>
                    </a:p>
                  </a:txBody>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tc>
                  <a:txBody>
                    <a:bodyPr/>
                    <a:lstStyle/>
                    <a:p>
                      <a:pPr algn="ctr"/>
                      <a:endParaRPr lang="en-GB" sz="2400" dirty="0"/>
                    </a:p>
                  </a:txBody>
                  <a:tcPr>
                    <a:solidFill>
                      <a:schemeClr val="accent4">
                        <a:lumMod val="50000"/>
                      </a:schemeClr>
                    </a:solidFill>
                  </a:tcPr>
                </a:tc>
                <a:extLst>
                  <a:ext uri="{0D108BD9-81ED-4DB2-BD59-A6C34878D82A}">
                    <a16:rowId xmlns:a16="http://schemas.microsoft.com/office/drawing/2014/main" val="3172504477"/>
                  </a:ext>
                </a:extLst>
              </a:tr>
            </a:tbl>
          </a:graphicData>
        </a:graphic>
      </p:graphicFrame>
    </p:spTree>
    <p:extLst>
      <p:ext uri="{BB962C8B-B14F-4D97-AF65-F5344CB8AC3E}">
        <p14:creationId xmlns:p14="http://schemas.microsoft.com/office/powerpoint/2010/main" val="20375815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TM04033921[[fn=Damask]]</Template>
  <TotalTime>73</TotalTime>
  <Words>444</Words>
  <Application>Microsoft Office PowerPoint</Application>
  <PresentationFormat>Widescreen</PresentationFormat>
  <Paragraphs>71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Amasis MT Pro</vt:lpstr>
      <vt:lpstr>Tw Cen MT</vt:lpstr>
      <vt:lpstr>Tw Cen MT Condensed</vt:lpstr>
      <vt:lpstr>Wingdings 3</vt:lpstr>
      <vt:lpstr>Integral</vt:lpstr>
      <vt:lpstr>Deployment of a 5G network using Open-source tools Dissertation plan presentation</vt:lpstr>
      <vt:lpstr>Motivation</vt:lpstr>
      <vt:lpstr>Objectives</vt:lpstr>
      <vt:lpstr>Workplan schedule</vt:lpstr>
      <vt:lpstr>Workplan schedule</vt:lpstr>
      <vt:lpstr>Workplan schedule</vt:lpstr>
      <vt:lpstr>Workplan schedule</vt:lpstr>
      <vt:lpstr>Workplan schedule</vt:lpstr>
      <vt:lpstr>Workplan 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Marcos Vinicius Bonfim Romao</dc:creator>
  <cp:lastModifiedBy>Marcos Vinicius Bonfim Romao</cp:lastModifiedBy>
  <cp:revision>4</cp:revision>
  <dcterms:created xsi:type="dcterms:W3CDTF">2026-02-02T21:09:06Z</dcterms:created>
  <dcterms:modified xsi:type="dcterms:W3CDTF">2026-02-06T10:03:01Z</dcterms:modified>
</cp:coreProperties>
</file>